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56" r:id="rId2"/>
    <p:sldId id="286" r:id="rId3"/>
    <p:sldId id="269" r:id="rId4"/>
    <p:sldId id="283" r:id="rId5"/>
    <p:sldId id="265" r:id="rId6"/>
    <p:sldId id="271" r:id="rId7"/>
    <p:sldId id="272" r:id="rId8"/>
    <p:sldId id="276" r:id="rId9"/>
    <p:sldId id="277" r:id="rId10"/>
    <p:sldId id="278" r:id="rId11"/>
    <p:sldId id="279" r:id="rId12"/>
    <p:sldId id="280" r:id="rId13"/>
    <p:sldId id="281" r:id="rId14"/>
    <p:sldId id="285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5B2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>
      <p:cViewPr varScale="1">
        <p:scale>
          <a:sx n="72" d="100"/>
          <a:sy n="72" d="100"/>
        </p:scale>
        <p:origin x="660" y="96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2B48F5-BACC-47D6-A0F7-82FBF9C6BC85}" type="datetimeFigureOut">
              <a:rPr lang="en-US"/>
              <a:t>6/6/2020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ACAF8E-318A-4EFE-8633-D9E72ABCE0ED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065597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B1CD00-5424-4675-AB18-2C419B060449}" type="datetimeFigureOut">
              <a:rPr lang="en-US"/>
              <a:t>6/6/2020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E2CF44-2B13-41B4-A334-1CDF534EEBB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453856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 bwMode="gray">
          <a:xfrm>
            <a:off x="0" y="2825016"/>
            <a:ext cx="12188952" cy="3180930"/>
          </a:xfrm>
          <a:prstGeom prst="rect">
            <a:avLst/>
          </a:prstGeom>
          <a:solidFill>
            <a:schemeClr val="bg1">
              <a:lumMod val="85000"/>
              <a:lumOff val="15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 userDrawn="1"/>
        </p:nvSpPr>
        <p:spPr bwMode="black">
          <a:xfrm>
            <a:off x="0" y="3075709"/>
            <a:ext cx="12188952" cy="26392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 bwMode="white">
          <a:xfrm>
            <a:off x="1066800" y="3165763"/>
            <a:ext cx="10058400" cy="1711037"/>
          </a:xfrm>
        </p:spPr>
        <p:txBody>
          <a:bodyPr anchor="b">
            <a:normAutofit/>
          </a:bodyPr>
          <a:lstStyle>
            <a:lvl1pPr algn="l">
              <a:lnSpc>
                <a:spcPct val="80000"/>
              </a:lnSpc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white">
          <a:xfrm>
            <a:off x="1066800" y="4953000"/>
            <a:ext cx="10058400" cy="6858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accent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88627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6/6/2020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4441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1828800"/>
            <a:ext cx="9144000" cy="2743200"/>
          </a:xfrm>
        </p:spPr>
        <p:txBody>
          <a:bodyPr anchor="b">
            <a:normAutofit/>
          </a:bodyPr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4000" y="4589463"/>
            <a:ext cx="9144000" cy="1506537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067780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4000" y="1825625"/>
            <a:ext cx="4343400" cy="427037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24600" y="1825625"/>
            <a:ext cx="4343400" cy="427037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6/6/2020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567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7048" y="1828800"/>
            <a:ext cx="4343400" cy="68580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27048" y="2514600"/>
            <a:ext cx="4343400" cy="35814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27648" y="1828800"/>
            <a:ext cx="4343400" cy="68580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27648" y="2514600"/>
            <a:ext cx="4343400" cy="35814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6/6/2020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9065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6/6/2020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9767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6/6/2020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8172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02587" y="1600200"/>
            <a:ext cx="3122613" cy="1828800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0412" y="762000"/>
            <a:ext cx="6400800" cy="5334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001039" y="3429000"/>
            <a:ext cx="3124161" cy="18288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6/6/2020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3741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97952" y="1600200"/>
            <a:ext cx="3127248" cy="1828800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781251" y="777240"/>
            <a:ext cx="6400800" cy="5303520"/>
          </a:xfrm>
        </p:spPr>
        <p:txBody>
          <a:bodyPr tIns="45720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97952" y="3429000"/>
            <a:ext cx="3127248" cy="18288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Rectangle 7" descr="An empty placeholder to add an image. Click on the placeholder and select the image that you wish to add."/>
          <p:cNvSpPr/>
          <p:nvPr userDrawn="1"/>
        </p:nvSpPr>
        <p:spPr bwMode="blackWhite">
          <a:xfrm>
            <a:off x="644091" y="640080"/>
            <a:ext cx="6675120" cy="5577840"/>
          </a:xfrm>
          <a:prstGeom prst="rect">
            <a:avLst/>
          </a:prstGeom>
          <a:solidFill>
            <a:srgbClr val="000000"/>
          </a:solidFill>
          <a:ln w="101600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6/6/2020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2497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6/6/2020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1542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57199"/>
            <a:ext cx="1943100" cy="56388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4000" y="457199"/>
            <a:ext cx="7048500" cy="56388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6/6/2020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6350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4000" y="457200"/>
            <a:ext cx="9144000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4000" y="1828800"/>
            <a:ext cx="9144000" cy="4267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24000" y="6362700"/>
            <a:ext cx="6881553" cy="2571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8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10600" y="6362700"/>
            <a:ext cx="990600" cy="2571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85000"/>
                  </a:schemeClr>
                </a:solidFill>
              </a:defRPr>
            </a:lvl1pPr>
          </a:lstStyle>
          <a:p>
            <a:fld id="{37CC0096-1860-4642-9CD2-0079EA5E7CD1}" type="datetimeFigureOut">
              <a:rPr lang="en-US" smtClean="0"/>
              <a:pPr/>
              <a:t>6/6/2020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829800" y="6362700"/>
            <a:ext cx="838200" cy="2571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85000"/>
                  </a:schemeClr>
                </a:solidFill>
              </a:defRPr>
            </a:lvl1pPr>
          </a:lstStyle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25986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accent1"/>
        </a:buClr>
        <a:buFont typeface="Arial" pitchFamily="34" charset="0"/>
        <a:buChar char="•"/>
        <a:defRPr sz="20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1pPr>
      <a:lvl2pPr marL="59436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 typeface="Arial" pitchFamily="34" charset="0"/>
        <a:buChar char="•"/>
        <a:defRPr sz="18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3pPr>
      <a:lvl4pPr marL="123444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4pPr>
      <a:lvl5pPr marL="150876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33172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60604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e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3.png"/><Relationship Id="rId7" Type="http://schemas.openxmlformats.org/officeDocument/2006/relationships/image" Target="../media/image15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1.jpg"/><Relationship Id="rId4" Type="http://schemas.openxmlformats.org/officeDocument/2006/relationships/image" Target="../media/image10.png"/><Relationship Id="rId9" Type="http://schemas.openxmlformats.org/officeDocument/2006/relationships/image" Target="../media/image17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jpe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Burp Suite 101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6800" y="4876800"/>
            <a:ext cx="10058400" cy="685800"/>
          </a:xfrm>
        </p:spPr>
        <p:txBody>
          <a:bodyPr/>
          <a:lstStyle/>
          <a:p>
            <a:r>
              <a:rPr lang="en-US" dirty="0">
                <a:solidFill>
                  <a:srgbClr val="EA5B2B"/>
                </a:solidFill>
              </a:rPr>
              <a:t>Getting Started with Burp Suite</a:t>
            </a:r>
            <a:endParaRPr dirty="0">
              <a:solidFill>
                <a:srgbClr val="EA5B2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4538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302026" y="279148"/>
            <a:ext cx="8534400" cy="1066800"/>
          </a:xfrm>
          <a:noFill/>
        </p:spPr>
        <p:txBody>
          <a:bodyPr>
            <a:noAutofit/>
          </a:bodyPr>
          <a:lstStyle/>
          <a:p>
            <a:r>
              <a:rPr lang="en-US" sz="6000" dirty="0">
                <a:solidFill>
                  <a:srgbClr val="EA5B2B"/>
                </a:solidFill>
              </a:rPr>
              <a:t>$ </a:t>
            </a:r>
            <a:r>
              <a:rPr lang="en-US" sz="6000" dirty="0" err="1">
                <a:solidFill>
                  <a:srgbClr val="EA5B2B"/>
                </a:solidFill>
              </a:rPr>
              <a:t>whoami</a:t>
            </a:r>
            <a:endParaRPr sz="6000" dirty="0">
              <a:solidFill>
                <a:srgbClr val="EA5B2B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B00DE7-40BB-42A8-97DA-977EF326D0A8}"/>
              </a:ext>
            </a:extLst>
          </p:cNvPr>
          <p:cNvSpPr txBox="1"/>
          <p:nvPr/>
        </p:nvSpPr>
        <p:spPr>
          <a:xfrm>
            <a:off x="1302026" y="1852357"/>
            <a:ext cx="102108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$ cd ~ &amp;&amp; touch about_me.txt</a:t>
            </a:r>
          </a:p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$ echo “I am 0xdaro.” &gt;&gt; about_me.txt</a:t>
            </a:r>
          </a:p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$ cat &lt;&lt;EOF &gt;&gt; about_me.txt</a:t>
            </a:r>
          </a:p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I am not a pro hacker. I am just a web developer who loves Cybersecurity.</a:t>
            </a:r>
            <a:b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EOF</a:t>
            </a:r>
          </a:p>
        </p:txBody>
      </p:sp>
    </p:spTree>
    <p:extLst>
      <p:ext uri="{BB962C8B-B14F-4D97-AF65-F5344CB8AC3E}">
        <p14:creationId xmlns:p14="http://schemas.microsoft.com/office/powerpoint/2010/main" val="24917252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302026" y="279148"/>
            <a:ext cx="8534400" cy="1066800"/>
          </a:xfrm>
          <a:noFill/>
        </p:spPr>
        <p:txBody>
          <a:bodyPr>
            <a:noAutofit/>
          </a:bodyPr>
          <a:lstStyle/>
          <a:p>
            <a:r>
              <a:rPr lang="en-US" sz="6000" dirty="0">
                <a:solidFill>
                  <a:srgbClr val="EA5B2B"/>
                </a:solidFill>
              </a:rPr>
              <a:t>What is Burp Suite?</a:t>
            </a:r>
            <a:endParaRPr sz="6000" dirty="0">
              <a:solidFill>
                <a:srgbClr val="EA5B2B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B00DE7-40BB-42A8-97DA-977EF326D0A8}"/>
              </a:ext>
            </a:extLst>
          </p:cNvPr>
          <p:cNvSpPr txBox="1"/>
          <p:nvPr/>
        </p:nvSpPr>
        <p:spPr>
          <a:xfrm>
            <a:off x="1302026" y="1852357"/>
            <a:ext cx="102108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integrated platform for performing security testing of web applications written in Java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3B382F6-F63C-41DD-8FE1-102DF14180B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7975" y="3682205"/>
            <a:ext cx="4800600" cy="2700338"/>
          </a:xfrm>
          <a:prstGeom prst="rect">
            <a:avLst/>
          </a:prstGeom>
        </p:spPr>
      </p:pic>
      <p:pic>
        <p:nvPicPr>
          <p:cNvPr id="1026" name="Picture 2" descr="data:image/png;base64,iVBORw0KGgoAAAANSUhEUgAAAT0AAACfCAMAAAC85v7+AAAAwFBMVEX///9BQULqXS4+Pj/qWysxMTLpViHqWijpUBQ7Ozz8uql3fYDqWCbrZz7teVdXV1jpUxuwsLDwknlkZGU2NjfyppPIyMj39/fCwsIsLC5LS0zvim3ufl72v7D0tabk5OTxn4v62dH4z8XpTgv98/D86eS4uLkkJCXs7Oz3xrr87OjU1NTxm4TrZDdPT1CkpKRzc3QYGBqTk5T639jsbkeipqjuhGbtdVGDg4P51MppaWrzrJrwj3Tw9vd/f4AfHyBU9+AMAAAGnklEQVR4nO3a7VriOAAF4DRt03QmYMACFgWUoIB8Ds7iMLju/d/VJv2AForozI4+suf9IRASwPMkbZKWEAAAAAAAAAAAAAAAAAAAAAAAAAAAAAAAAAAAAAAAAAAAAAAAAAAA+L9pjCp/Dder+4/+HZ/OYDR7brpu+PWL4pwu1913irDRaLzPF/0pg/ps3gzdwLcty//6hVHqCMYVvaoNbzPVho/lVPUmLrqdXGUq3JbK+u/9plb5sn1b0La1jevupx2G7tliFL+s2LPMx93ZC/334mxOyI/zvA65y7788Z9H8kqd2dxKgovE6RmCCyYVK1+vkqol5qWYqkZFS6aG288aS94iZM031QRTl/FbE7EtlLIdF44s1zffaQehb4Iiod3PdMTA7g8Imfr90ahv5wTPpOlnXvdHfzqmAyr9TXD59MR4NXH0o8efkqolhzIekR7lUXxXnmxtP+tSmFxqTAe/qccmvZ22zKFx9joTy3dD3fl8y3Z/6kEcWGEmPd8KO4Sc2W598M01Ah109KS/IE3bCtzUt847pbWrElhWYXqsZv5lE2M1qVpyWLsbGV4xqkyXLE5PXK7ieq0yp+wq37a7poKqlsnKtsIfo0FjUH8OA99/IT3SqRuzwJ6OomdEpxdU6qmPCu9t6fGbtNlSiCU5lB673hSteRyzbvuwKXz0HEnIIrDcdMQNFuf1l9KL1V37LH2zaYcfltnWL6b3oFMhr0hP1xBPO21Jj1PejXpP/rccS+/i86Snui+l19ND9/416XWlQ3faEvIk2PXfrhUO8r/ldNLT59JVcvooSq/BKL99TXo9RXlvN72WFMtTTk8f1leKHk5PDz7Ve016REUV8+kNpVfW4ZzqyOVr8pCEV5zeUDoT8nvpPfuWmw/gRNKTVXKrmNhPLz1v9hwnmvIeT+9eUVk0ci9JJ9Szt1zvO430hF5w1cbj6l56olqLjJnjeKboeHpJJ82ntxSmykXfstzzzLHvbekFldHHTvZIYXpykry3d86lgsX0SjjqhsfTmzj7MxZ9UNAzFjN/8y2/v+1+b0svXWt8q5MPUzhydUiCF8z30vT0mPai1e/R9J6YmfrkZ8t62JvZstaYh6b7pb3njekli1x359zzng7NWJyi2bKoXkeqzHNeWKk5pWViwigrx229clJ2ZRa6aau7QHe/MNlZeVt6dnMaOduZ97ynl9YajuJSUlZ01vgeLbYO7RI4IuFQWUp3CbykzKOOut60SbpflMBpnDXS9HoaGfLC+Z6kcn0wPU9q5mOYqqVtKZMJNelmf8FdaLrfBTmp9ES1O2yvSFcVzvf0pMN7PJSet2xpYz1q22TTltVaseF2uyDW+Km7X/8VuwSfKD0qpPpOblTxbDlabBw5a0z0sY5s2+6GlnHnWnbQOKn0qDch99w5kJ7ORq8hXkyvm0xM9tvuGYWWPnWeVHrynlDnwErNvFL3R2Ysj54zKWy7bxb4c5Oeeyrp6XlaWRxa5xIiqGrovLaHtmgc59LTs+L0Esax9Eau3Yz63jaSRrwJ8znTE2Mylgd3CfQ62BHR3O77pkifh/kqN1t+EpQXtC1wZ9Izy69ZpshyyWdNT89YJod3R8k1Mysws+baDN0qi7LKpHfPafL8WHpTW4/caLN+M/e1bP+ZfOL0XthbvtGnXPPi0Yv6m7HmVJrZXXaldh1vQRem16hvFwlzPWZ1RoPQsqfJke+nPuyZyx6nk54c3kYeajxZgZldQFW7bfQeLjn1zB58Lr0GizcJCtIbhGF4XhnpBDsVK7CCuSmchZZvXZjLbFPdDaOL3AfTcy86qQ+7G6HiHjruPbXjswfLXM+VyYVaRkV8nZYMlV5FKKW40BPE6M6B3C5BW1L1QIrS6/xjW34Qhv0wDGwrSGJ5Npt+5hKvbZkrvOSlXQJTL9b/qKXuRVP/+swF8cxsmTmOkFzRdVK15Dkpocq9pPSGcs/sKmyKapKNt58/8Xg7elC7I3dhp19sB/1FWjrrB3auaOqHm/RCP5ve1ofdSxDdN/XjzA3d6Fdv91h0cLz01F71NhXXmzsxJsvsSrVV1p2PXqZFD55Ybd+8YdE2wTp+yOtU5k03uo8lcwgbLKZu351uimZBeiQkg+b2SsgicyeGf/5bAfy+RuducRboCIOvXySTXJbG7Zv9//eQ3uur7n7xYLB31Pqkt1V1Lhbn8y+lcevhl9MAAAAAAAAAAAAAAAAAAAAAAAAAAAAAAAAAAAAAAAAAAAAAAAAAAAD4U/4FBr7DTufoZ+4AAAAASUVORK5CYII=">
            <a:extLst>
              <a:ext uri="{FF2B5EF4-FFF2-40B4-BE49-F238E27FC236}">
                <a16:creationId xmlns:a16="http://schemas.microsoft.com/office/drawing/2014/main" id="{28F640C6-D8A2-4E69-91BC-F56C565370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2026" y="4095194"/>
            <a:ext cx="4572000" cy="2293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588048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143001" y="381000"/>
            <a:ext cx="10744198" cy="1066800"/>
          </a:xfrm>
          <a:noFill/>
        </p:spPr>
        <p:txBody>
          <a:bodyPr>
            <a:noAutofit/>
          </a:bodyPr>
          <a:lstStyle/>
          <a:p>
            <a:r>
              <a:rPr lang="en-US" sz="6000" dirty="0">
                <a:solidFill>
                  <a:srgbClr val="EA5B2B"/>
                </a:solidFill>
              </a:rPr>
              <a:t>Why do we use Burp Suite?</a:t>
            </a:r>
            <a:endParaRPr sz="6000" dirty="0">
              <a:solidFill>
                <a:srgbClr val="EA5B2B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073555-5426-4DD2-829E-C9F63104CFEF}"/>
              </a:ext>
            </a:extLst>
          </p:cNvPr>
          <p:cNvSpPr txBox="1"/>
          <p:nvPr/>
        </p:nvSpPr>
        <p:spPr>
          <a:xfrm>
            <a:off x="1302025" y="1670647"/>
            <a:ext cx="1058517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Famous tool used by Bug Bounty Hunters, </a:t>
            </a:r>
          </a:p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Web Penetration Testers, Security Researchers and Hobbyists.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D93273B-F850-43D0-8008-EACB986CB7EF}"/>
              </a:ext>
            </a:extLst>
          </p:cNvPr>
          <p:cNvSpPr txBox="1"/>
          <p:nvPr/>
        </p:nvSpPr>
        <p:spPr>
          <a:xfrm>
            <a:off x="1302025" y="3265570"/>
            <a:ext cx="81467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Many resources on the internet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64456F4-EFFC-4AA4-9FF4-5C3599AEF00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2415" y="4328905"/>
            <a:ext cx="2209800" cy="147453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8AF0D8E-9F9C-480D-A829-5875C48287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1394" y="4328905"/>
            <a:ext cx="3095044" cy="78604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7018E80-9949-446F-9353-2867C02318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1394" y="5152842"/>
            <a:ext cx="3095044" cy="78604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A5CCA51-5E2F-4C2B-8637-949BB21717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1161" y="5976779"/>
            <a:ext cx="5375277" cy="84623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BACA2E9-A1E4-4145-8DF0-44EA98B5077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3568" y="4721926"/>
            <a:ext cx="2117645" cy="147453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9B347B25-2D80-4E71-8675-12754B9C7C2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0544" y="4213897"/>
            <a:ext cx="2470627" cy="1653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56079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94BF6C2-E9FF-4D38-89F3-42E42DF3F34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328501"/>
            <a:ext cx="4876800" cy="246044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C68A378-097C-4A9D-AD28-6A1E18076B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4200" y="328501"/>
            <a:ext cx="4724400" cy="2460446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9032035-300A-4BA3-A073-5C092B67D7F1}"/>
              </a:ext>
            </a:extLst>
          </p:cNvPr>
          <p:cNvSpPr/>
          <p:nvPr/>
        </p:nvSpPr>
        <p:spPr>
          <a:xfrm>
            <a:off x="1323753" y="2878600"/>
            <a:ext cx="3296094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Burp Suite Pro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E4A0C4F-6C90-40B1-B211-A8BAF8C8EB83}"/>
              </a:ext>
            </a:extLst>
          </p:cNvPr>
          <p:cNvSpPr/>
          <p:nvPr/>
        </p:nvSpPr>
        <p:spPr>
          <a:xfrm>
            <a:off x="6595729" y="2878600"/>
            <a:ext cx="5432995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Burp Suite Community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0BC67BD-6A5C-4ED8-BDC3-CFCA24541D55}"/>
              </a:ext>
            </a:extLst>
          </p:cNvPr>
          <p:cNvSpPr/>
          <p:nvPr/>
        </p:nvSpPr>
        <p:spPr>
          <a:xfrm>
            <a:off x="6886135" y="3886200"/>
            <a:ext cx="4820529" cy="107721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Essential manual </a:t>
            </a:r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sz="3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ools</a:t>
            </a:r>
            <a:endParaRPr lang="en-US" sz="32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Free to use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19A17D8-A585-489E-A8DC-F05458404159}"/>
              </a:ext>
            </a:extLst>
          </p:cNvPr>
          <p:cNvSpPr/>
          <p:nvPr/>
        </p:nvSpPr>
        <p:spPr>
          <a:xfrm>
            <a:off x="485336" y="3886200"/>
            <a:ext cx="5432995" cy="206210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Web vulnerability scanner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Advanced manual tools</a:t>
            </a:r>
            <a:endParaRPr lang="en-US" sz="3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Essential manual </a:t>
            </a:r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sz="3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ools</a:t>
            </a:r>
            <a:endParaRPr lang="en-US" sz="32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$399 per user, per year</a:t>
            </a:r>
            <a:endParaRPr lang="en-US" sz="3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28263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685800" y="381000"/>
            <a:ext cx="10058400" cy="762000"/>
          </a:xfrm>
          <a:noFill/>
        </p:spPr>
        <p:txBody>
          <a:bodyPr>
            <a:noAutofit/>
          </a:bodyPr>
          <a:lstStyle/>
          <a:p>
            <a:r>
              <a:rPr lang="en-US" sz="6000" dirty="0">
                <a:solidFill>
                  <a:srgbClr val="EA5B2B"/>
                </a:solidFill>
              </a:rPr>
              <a:t>Running Burp Suite</a:t>
            </a:r>
            <a:endParaRPr sz="6000" dirty="0">
              <a:solidFill>
                <a:srgbClr val="EA5B2B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B711D9-45A9-420D-92CB-33357CDF75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8030" y="3858497"/>
            <a:ext cx="3055188" cy="168181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9E3F8DE-D714-431A-B2EB-8CBA6A8BAC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9374" y="4762097"/>
            <a:ext cx="2296127" cy="140145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6DE0269-A42C-4F7F-8FE8-EF9A0B1FD51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8030" y="1395403"/>
            <a:ext cx="3055188" cy="154140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7B328F0-F6AE-4E95-ACD4-A1904A4FB42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448" y="1395403"/>
            <a:ext cx="2986346" cy="1541406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38244C79-EA16-49CA-9FB0-EDD3489CEB8D}"/>
              </a:ext>
            </a:extLst>
          </p:cNvPr>
          <p:cNvSpPr/>
          <p:nvPr/>
        </p:nvSpPr>
        <p:spPr>
          <a:xfrm>
            <a:off x="8915400" y="6272681"/>
            <a:ext cx="24785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https://www.jython.org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D2026806-99A9-42B3-B131-9A67DFA2CFB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9364" y="1427212"/>
            <a:ext cx="1424433" cy="1424433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5A03A3C0-031A-4B37-84AC-0E4AB980CCB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8854" y="1449615"/>
            <a:ext cx="2478565" cy="1395973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8E277F2E-5692-4346-BEE0-960FAE235BF7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5267" y="3075687"/>
            <a:ext cx="1624340" cy="1488349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2EC9E221-D761-4DE0-A8C7-A1EE1C5A9778}"/>
              </a:ext>
            </a:extLst>
          </p:cNvPr>
          <p:cNvSpPr/>
          <p:nvPr/>
        </p:nvSpPr>
        <p:spPr>
          <a:xfrm>
            <a:off x="2457211" y="3059668"/>
            <a:ext cx="29675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https://portswigger.net/burp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78280A8-2B5F-47BD-B4DD-1517448D7AE8}"/>
              </a:ext>
            </a:extLst>
          </p:cNvPr>
          <p:cNvSpPr/>
          <p:nvPr/>
        </p:nvSpPr>
        <p:spPr>
          <a:xfrm>
            <a:off x="4091545" y="5603002"/>
            <a:ext cx="282815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https://openjdk.java.net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A549348-D82D-46A6-A70F-F1265BCD7885}"/>
              </a:ext>
            </a:extLst>
          </p:cNvPr>
          <p:cNvSpPr/>
          <p:nvPr/>
        </p:nvSpPr>
        <p:spPr>
          <a:xfrm>
            <a:off x="776608" y="5603002"/>
            <a:ext cx="316437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https://www.oracle.com/java</a:t>
            </a:r>
          </a:p>
          <a:p>
            <a:endParaRPr lang="en-US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3809C7E8-8564-4748-9A01-669757476D31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608" y="3858374"/>
            <a:ext cx="2989884" cy="1681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50812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2">
            <a:extLst>
              <a:ext uri="{FF2B5EF4-FFF2-40B4-BE49-F238E27FC236}">
                <a16:creationId xmlns:a16="http://schemas.microsoft.com/office/drawing/2014/main" id="{9A102F33-A9C8-4CEE-AC88-98C8D337AB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381000"/>
            <a:ext cx="10058400" cy="762000"/>
          </a:xfrm>
          <a:noFill/>
        </p:spPr>
        <p:txBody>
          <a:bodyPr>
            <a:noAutofit/>
          </a:bodyPr>
          <a:lstStyle/>
          <a:p>
            <a:r>
              <a:rPr lang="en-US" sz="6000" dirty="0">
                <a:solidFill>
                  <a:srgbClr val="EA5B2B"/>
                </a:solidFill>
              </a:rPr>
              <a:t>Burp Tools</a:t>
            </a:r>
            <a:endParaRPr sz="6000" dirty="0">
              <a:solidFill>
                <a:srgbClr val="EA5B2B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B16621A-9E17-4480-B8DA-2E7F9D5BBF4D}"/>
              </a:ext>
            </a:extLst>
          </p:cNvPr>
          <p:cNvSpPr/>
          <p:nvPr/>
        </p:nvSpPr>
        <p:spPr>
          <a:xfrm>
            <a:off x="609600" y="1676400"/>
            <a:ext cx="11582400" cy="403187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3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Target				</a:t>
            </a:r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	Sequencer</a:t>
            </a:r>
          </a:p>
          <a:p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Proxy					Mobile Assistant</a:t>
            </a:r>
          </a:p>
          <a:p>
            <a:r>
              <a:rPr lang="en-US" sz="3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Scanner (Pro o</a:t>
            </a:r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nly)			Collaborator client (Pro only)</a:t>
            </a:r>
            <a:endParaRPr lang="en-US" sz="3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3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Intruder</a:t>
            </a:r>
          </a:p>
          <a:p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Repeater</a:t>
            </a:r>
          </a:p>
          <a:p>
            <a:r>
              <a:rPr lang="en-US" sz="3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Decoder</a:t>
            </a:r>
          </a:p>
          <a:p>
            <a:r>
              <a:rPr lang="en-US" sz="3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Comparer</a:t>
            </a:r>
          </a:p>
          <a:p>
            <a:r>
              <a:rPr lang="en-US" sz="3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Extender</a:t>
            </a:r>
          </a:p>
        </p:txBody>
      </p:sp>
    </p:spTree>
    <p:extLst>
      <p:ext uri="{BB962C8B-B14F-4D97-AF65-F5344CB8AC3E}">
        <p14:creationId xmlns:p14="http://schemas.microsoft.com/office/powerpoint/2010/main" val="24138677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2">
            <a:extLst>
              <a:ext uri="{FF2B5EF4-FFF2-40B4-BE49-F238E27FC236}">
                <a16:creationId xmlns:a16="http://schemas.microsoft.com/office/drawing/2014/main" id="{9A102F33-A9C8-4CEE-AC88-98C8D337AB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381000"/>
            <a:ext cx="10058400" cy="762000"/>
          </a:xfrm>
          <a:noFill/>
        </p:spPr>
        <p:txBody>
          <a:bodyPr>
            <a:noAutofit/>
          </a:bodyPr>
          <a:lstStyle/>
          <a:p>
            <a:r>
              <a:rPr lang="en-US" sz="6000" dirty="0">
                <a:solidFill>
                  <a:srgbClr val="EA5B2B"/>
                </a:solidFill>
              </a:rPr>
              <a:t>Burp Tools</a:t>
            </a:r>
            <a:endParaRPr sz="6000" dirty="0">
              <a:solidFill>
                <a:srgbClr val="EA5B2B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B16621A-9E17-4480-B8DA-2E7F9D5BBF4D}"/>
              </a:ext>
            </a:extLst>
          </p:cNvPr>
          <p:cNvSpPr/>
          <p:nvPr/>
        </p:nvSpPr>
        <p:spPr>
          <a:xfrm>
            <a:off x="609600" y="1676400"/>
            <a:ext cx="11582400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32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Target</a:t>
            </a:r>
            <a:r>
              <a:rPr lang="en-US" sz="3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- </a:t>
            </a:r>
            <a:r>
              <a:rPr lang="en-US" sz="3200" dirty="0"/>
              <a:t>This tool contains detailed information about your target applications, and lets you drive the process of testing for vulnerabilities. </a:t>
            </a:r>
            <a:endParaRPr lang="en-US" sz="3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38C1BCD-16B6-4660-9796-797E16CC1B4E}"/>
              </a:ext>
            </a:extLst>
          </p:cNvPr>
          <p:cNvSpPr/>
          <p:nvPr/>
        </p:nvSpPr>
        <p:spPr>
          <a:xfrm>
            <a:off x="609600" y="3610768"/>
            <a:ext cx="11582400" cy="206210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32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Proxy</a:t>
            </a:r>
            <a:r>
              <a:rPr lang="en-US" sz="3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- </a:t>
            </a:r>
            <a:r>
              <a:rPr lang="en-US" sz="3200" dirty="0"/>
              <a:t>This is an intercepting web proxy that operates as a man-in-the-middle between the end browser and the target web application. It lets you intercept, inspect and modify the raw traffic passing in both directions.</a:t>
            </a:r>
            <a:endParaRPr lang="en-US" sz="3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56421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2">
            <a:extLst>
              <a:ext uri="{FF2B5EF4-FFF2-40B4-BE49-F238E27FC236}">
                <a16:creationId xmlns:a16="http://schemas.microsoft.com/office/drawing/2014/main" id="{9A102F33-A9C8-4CEE-AC88-98C8D337AB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381000"/>
            <a:ext cx="10058400" cy="762000"/>
          </a:xfrm>
          <a:noFill/>
        </p:spPr>
        <p:txBody>
          <a:bodyPr>
            <a:noAutofit/>
          </a:bodyPr>
          <a:lstStyle/>
          <a:p>
            <a:r>
              <a:rPr lang="en-US" sz="6000" dirty="0">
                <a:solidFill>
                  <a:srgbClr val="EA5B2B"/>
                </a:solidFill>
              </a:rPr>
              <a:t>Burp Tools</a:t>
            </a:r>
            <a:endParaRPr sz="6000" dirty="0">
              <a:solidFill>
                <a:srgbClr val="EA5B2B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B16621A-9E17-4480-B8DA-2E7F9D5BBF4D}"/>
              </a:ext>
            </a:extLst>
          </p:cNvPr>
          <p:cNvSpPr/>
          <p:nvPr/>
        </p:nvSpPr>
        <p:spPr>
          <a:xfrm>
            <a:off x="609600" y="1676400"/>
            <a:ext cx="11582400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32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Scanner</a:t>
            </a:r>
            <a:r>
              <a:rPr lang="en-US" sz="3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- </a:t>
            </a:r>
            <a:r>
              <a:rPr lang="en-US" sz="3200" dirty="0"/>
              <a:t>This is an advanced web vulnerability scanner, which can automatically crawl content and audit for numerous types of vulnerabilities. </a:t>
            </a:r>
            <a:endParaRPr lang="en-US" sz="3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38C1BCD-16B6-4660-9796-797E16CC1B4E}"/>
              </a:ext>
            </a:extLst>
          </p:cNvPr>
          <p:cNvSpPr/>
          <p:nvPr/>
        </p:nvSpPr>
        <p:spPr>
          <a:xfrm>
            <a:off x="609600" y="3610768"/>
            <a:ext cx="11582400" cy="206210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32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Intruder</a:t>
            </a:r>
            <a:r>
              <a:rPr lang="en-US" sz="3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- </a:t>
            </a:r>
            <a:r>
              <a:rPr lang="en-US" sz="3200" dirty="0"/>
              <a:t>This is a powerful tool for carrying out automated customized attacks against web applications. It is highly configurable and can be used to perform a wide range of tasks to make your testing faster and more effective. </a:t>
            </a:r>
            <a:endParaRPr lang="en-US" sz="3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21489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2">
            <a:extLst>
              <a:ext uri="{FF2B5EF4-FFF2-40B4-BE49-F238E27FC236}">
                <a16:creationId xmlns:a16="http://schemas.microsoft.com/office/drawing/2014/main" id="{9A102F33-A9C8-4CEE-AC88-98C8D337AB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381000"/>
            <a:ext cx="10058400" cy="762000"/>
          </a:xfrm>
          <a:noFill/>
        </p:spPr>
        <p:txBody>
          <a:bodyPr>
            <a:noAutofit/>
          </a:bodyPr>
          <a:lstStyle/>
          <a:p>
            <a:r>
              <a:rPr lang="en-US" sz="6000" dirty="0">
                <a:solidFill>
                  <a:srgbClr val="EA5B2B"/>
                </a:solidFill>
              </a:rPr>
              <a:t>Burp Tools</a:t>
            </a:r>
            <a:endParaRPr sz="6000" dirty="0">
              <a:solidFill>
                <a:srgbClr val="EA5B2B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B16621A-9E17-4480-B8DA-2E7F9D5BBF4D}"/>
              </a:ext>
            </a:extLst>
          </p:cNvPr>
          <p:cNvSpPr/>
          <p:nvPr/>
        </p:nvSpPr>
        <p:spPr>
          <a:xfrm>
            <a:off x="609600" y="1676400"/>
            <a:ext cx="11582400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32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Repeater</a:t>
            </a:r>
            <a:r>
              <a:rPr lang="en-US" sz="3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- </a:t>
            </a:r>
            <a:r>
              <a:rPr lang="en-US" sz="3200" dirty="0"/>
              <a:t>This is a tool for manually manipulating and reissuing individual HTTP requests, and analyzing the application's responses.</a:t>
            </a:r>
            <a:endParaRPr lang="en-US" sz="3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38C1BCD-16B6-4660-9796-797E16CC1B4E}"/>
              </a:ext>
            </a:extLst>
          </p:cNvPr>
          <p:cNvSpPr/>
          <p:nvPr/>
        </p:nvSpPr>
        <p:spPr>
          <a:xfrm>
            <a:off x="609600" y="3826566"/>
            <a:ext cx="11582400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32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Sequencer</a:t>
            </a:r>
            <a:r>
              <a:rPr lang="en-US" sz="3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- </a:t>
            </a:r>
            <a:r>
              <a:rPr lang="en-US" sz="3200" dirty="0"/>
              <a:t>This is a sophisticated tool for analyzing the quality of randomness in an application's session tokens or other important data items that are intended to be unpredictable. </a:t>
            </a:r>
            <a:endParaRPr lang="en-US" sz="3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81174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2">
            <a:extLst>
              <a:ext uri="{FF2B5EF4-FFF2-40B4-BE49-F238E27FC236}">
                <a16:creationId xmlns:a16="http://schemas.microsoft.com/office/drawing/2014/main" id="{9A102F33-A9C8-4CEE-AC88-98C8D337AB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381000"/>
            <a:ext cx="10058400" cy="762000"/>
          </a:xfrm>
          <a:noFill/>
        </p:spPr>
        <p:txBody>
          <a:bodyPr>
            <a:noAutofit/>
          </a:bodyPr>
          <a:lstStyle/>
          <a:p>
            <a:r>
              <a:rPr lang="en-US" sz="6000" dirty="0">
                <a:solidFill>
                  <a:srgbClr val="EA5B2B"/>
                </a:solidFill>
              </a:rPr>
              <a:t>Burp Tools</a:t>
            </a:r>
            <a:endParaRPr sz="6000" dirty="0">
              <a:solidFill>
                <a:srgbClr val="EA5B2B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B16621A-9E17-4480-B8DA-2E7F9D5BBF4D}"/>
              </a:ext>
            </a:extLst>
          </p:cNvPr>
          <p:cNvSpPr/>
          <p:nvPr/>
        </p:nvSpPr>
        <p:spPr>
          <a:xfrm>
            <a:off x="609600" y="1676400"/>
            <a:ext cx="11430000" cy="107721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32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Decoder</a:t>
            </a:r>
            <a:r>
              <a:rPr lang="en-US" sz="3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- </a:t>
            </a:r>
            <a:r>
              <a:rPr lang="en-US" sz="3200" dirty="0"/>
              <a:t>This is a useful tool for performing manual or intelligent decoding and encoding of application data. </a:t>
            </a:r>
            <a:endParaRPr lang="en-US" sz="3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38C1BCD-16B6-4660-9796-797E16CC1B4E}"/>
              </a:ext>
            </a:extLst>
          </p:cNvPr>
          <p:cNvSpPr/>
          <p:nvPr/>
        </p:nvSpPr>
        <p:spPr>
          <a:xfrm>
            <a:off x="609600" y="3429000"/>
            <a:ext cx="11582400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32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Comparer</a:t>
            </a:r>
            <a:r>
              <a:rPr lang="en-US" sz="3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- </a:t>
            </a:r>
            <a:r>
              <a:rPr lang="en-US" sz="3200" dirty="0"/>
              <a:t>This is a handy utility for performing a visual "diff" between any two items of data, such as pairs of similar HTTP messages.</a:t>
            </a:r>
            <a:endParaRPr lang="en-US" sz="3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55253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2">
            <a:extLst>
              <a:ext uri="{FF2B5EF4-FFF2-40B4-BE49-F238E27FC236}">
                <a16:creationId xmlns:a16="http://schemas.microsoft.com/office/drawing/2014/main" id="{9A102F33-A9C8-4CEE-AC88-98C8D337AB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381000"/>
            <a:ext cx="10058400" cy="762000"/>
          </a:xfrm>
          <a:noFill/>
        </p:spPr>
        <p:txBody>
          <a:bodyPr>
            <a:noAutofit/>
          </a:bodyPr>
          <a:lstStyle/>
          <a:p>
            <a:r>
              <a:rPr lang="en-US" sz="6000" dirty="0">
                <a:solidFill>
                  <a:srgbClr val="EA5B2B"/>
                </a:solidFill>
              </a:rPr>
              <a:t>Burp Tools</a:t>
            </a:r>
            <a:endParaRPr sz="6000" dirty="0">
              <a:solidFill>
                <a:srgbClr val="EA5B2B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B16621A-9E17-4480-B8DA-2E7F9D5BBF4D}"/>
              </a:ext>
            </a:extLst>
          </p:cNvPr>
          <p:cNvSpPr/>
          <p:nvPr/>
        </p:nvSpPr>
        <p:spPr>
          <a:xfrm>
            <a:off x="609600" y="1676400"/>
            <a:ext cx="11430000" cy="107721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32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Extender</a:t>
            </a:r>
            <a:r>
              <a:rPr lang="en-US" sz="3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- </a:t>
            </a:r>
            <a:r>
              <a:rPr lang="en-US" sz="3200" dirty="0"/>
              <a:t>This lets you load Burp extensions, to extend Burp's functionality using your own or third-party code. </a:t>
            </a:r>
            <a:endParaRPr lang="en-US" sz="3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38C1BCD-16B6-4660-9796-797E16CC1B4E}"/>
              </a:ext>
            </a:extLst>
          </p:cNvPr>
          <p:cNvSpPr/>
          <p:nvPr/>
        </p:nvSpPr>
        <p:spPr>
          <a:xfrm>
            <a:off x="602974" y="3136612"/>
            <a:ext cx="11582400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32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Clickbandit</a:t>
            </a:r>
            <a:r>
              <a:rPr lang="en-US" sz="3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- </a:t>
            </a:r>
            <a:r>
              <a:rPr lang="en-US" sz="3200" dirty="0"/>
              <a:t>This is a tool for generating Clickjacking attacks.</a:t>
            </a:r>
            <a:endParaRPr lang="en-US" sz="3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462CF25-40AB-45F4-B04A-B722A35873EE}"/>
              </a:ext>
            </a:extLst>
          </p:cNvPr>
          <p:cNvSpPr/>
          <p:nvPr/>
        </p:nvSpPr>
        <p:spPr>
          <a:xfrm>
            <a:off x="602974" y="4056222"/>
            <a:ext cx="11582400" cy="107721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32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Collaborator client</a:t>
            </a:r>
            <a:r>
              <a:rPr lang="en-US" sz="3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- </a:t>
            </a:r>
            <a:r>
              <a:rPr lang="en-US" sz="3200" dirty="0"/>
              <a:t>This is a tool for making use of Burp Collaborator during manual testing. </a:t>
            </a:r>
            <a:endParaRPr lang="en-US" sz="3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5C6C9A0-12AC-415B-BA37-05A1F4596177}"/>
              </a:ext>
            </a:extLst>
          </p:cNvPr>
          <p:cNvSpPr/>
          <p:nvPr/>
        </p:nvSpPr>
        <p:spPr>
          <a:xfrm>
            <a:off x="609600" y="5464962"/>
            <a:ext cx="11582400" cy="107721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32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Mobile Assistant</a:t>
            </a:r>
            <a:r>
              <a:rPr lang="en-US" sz="3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- </a:t>
            </a:r>
            <a:r>
              <a:rPr lang="en-US" sz="3200" dirty="0"/>
              <a:t>This is a tool to facilitate testing of mobile apps with Burp Suite. </a:t>
            </a:r>
            <a:endParaRPr lang="en-US" sz="3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99528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2">
            <a:extLst>
              <a:ext uri="{FF2B5EF4-FFF2-40B4-BE49-F238E27FC236}">
                <a16:creationId xmlns:a16="http://schemas.microsoft.com/office/drawing/2014/main" id="{9A102F33-A9C8-4CEE-AC88-98C8D337AB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381000"/>
            <a:ext cx="10058400" cy="762000"/>
          </a:xfrm>
          <a:noFill/>
        </p:spPr>
        <p:txBody>
          <a:bodyPr>
            <a:noAutofit/>
          </a:bodyPr>
          <a:lstStyle/>
          <a:p>
            <a:r>
              <a:rPr lang="en-US" sz="6000" dirty="0">
                <a:solidFill>
                  <a:srgbClr val="EA5B2B"/>
                </a:solidFill>
              </a:rPr>
              <a:t>Bonus</a:t>
            </a:r>
            <a:endParaRPr sz="6000" dirty="0">
              <a:solidFill>
                <a:srgbClr val="EA5B2B"/>
              </a:solidFill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E36C848D-F529-497B-8CB0-CB2406218B2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8722" y="1651223"/>
            <a:ext cx="5562600" cy="150173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A49D224-EB7A-4568-8069-7790AF8F988F}"/>
              </a:ext>
            </a:extLst>
          </p:cNvPr>
          <p:cNvSpPr txBox="1"/>
          <p:nvPr/>
        </p:nvSpPr>
        <p:spPr>
          <a:xfrm>
            <a:off x="672548" y="3152953"/>
            <a:ext cx="5105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Free, online web security training from the creators of Burp Suite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7F2F6F3-E21E-4197-9CD7-6A5242359EC9}"/>
              </a:ext>
            </a:extLst>
          </p:cNvPr>
          <p:cNvSpPr txBox="1"/>
          <p:nvPr/>
        </p:nvSpPr>
        <p:spPr>
          <a:xfrm>
            <a:off x="672548" y="3983950"/>
            <a:ext cx="5181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https://portswigger.net/web-security</a:t>
            </a:r>
          </a:p>
        </p:txBody>
      </p:sp>
      <p:pic>
        <p:nvPicPr>
          <p:cNvPr id="1026" name="Picture 2" descr="Image result for owasp zap">
            <a:extLst>
              <a:ext uri="{FF2B5EF4-FFF2-40B4-BE49-F238E27FC236}">
                <a16:creationId xmlns:a16="http://schemas.microsoft.com/office/drawing/2014/main" id="{873268E3-D5CD-4F75-9050-B438F28544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66263" y="1889985"/>
            <a:ext cx="2235476" cy="2235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7099ADB-25E5-4A36-BB74-93ADD6FF369D}"/>
              </a:ext>
            </a:extLst>
          </p:cNvPr>
          <p:cNvSpPr txBox="1"/>
          <p:nvPr/>
        </p:nvSpPr>
        <p:spPr>
          <a:xfrm>
            <a:off x="7731401" y="4445615"/>
            <a:ext cx="3505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OWASP ZAP</a:t>
            </a:r>
          </a:p>
          <a:p>
            <a:pPr algn="ct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Burp suite alternative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F133557-6237-4144-938F-99BFCD90B731}"/>
              </a:ext>
            </a:extLst>
          </p:cNvPr>
          <p:cNvSpPr txBox="1"/>
          <p:nvPr/>
        </p:nvSpPr>
        <p:spPr>
          <a:xfrm>
            <a:off x="7162800" y="5276612"/>
            <a:ext cx="487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https://owasp.org/www-project-zap</a:t>
            </a:r>
          </a:p>
        </p:txBody>
      </p:sp>
    </p:spTree>
    <p:extLst>
      <p:ext uri="{BB962C8B-B14F-4D97-AF65-F5344CB8AC3E}">
        <p14:creationId xmlns:p14="http://schemas.microsoft.com/office/powerpoint/2010/main" val="40747945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2">
            <a:extLst>
              <a:ext uri="{FF2B5EF4-FFF2-40B4-BE49-F238E27FC236}">
                <a16:creationId xmlns:a16="http://schemas.microsoft.com/office/drawing/2014/main" id="{E4361C30-614B-4BB5-8470-014BA46A31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1900" y="2590800"/>
            <a:ext cx="4648200" cy="990600"/>
          </a:xfrm>
          <a:noFill/>
        </p:spPr>
        <p:txBody>
          <a:bodyPr>
            <a:noAutofit/>
          </a:bodyPr>
          <a:lstStyle/>
          <a:p>
            <a:r>
              <a:rPr lang="en-US" sz="6000" dirty="0">
                <a:solidFill>
                  <a:srgbClr val="EA5B2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  <a:endParaRPr sz="6000" dirty="0">
              <a:solidFill>
                <a:srgbClr val="EA5B2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0678572"/>
      </p:ext>
    </p:extLst>
  </p:cSld>
  <p:clrMapOvr>
    <a:masterClrMapping/>
  </p:clrMapOvr>
</p:sld>
</file>

<file path=ppt/theme/theme1.xml><?xml version="1.0" encoding="utf-8"?>
<a:theme xmlns:a="http://schemas.openxmlformats.org/drawingml/2006/main" name="Tech Computer 16x9">
  <a:themeElements>
    <a:clrScheme name="TechComputer">
      <a:dk1>
        <a:srgbClr val="000000"/>
      </a:dk1>
      <a:lt1>
        <a:sysClr val="window" lastClr="FFFFFF"/>
      </a:lt1>
      <a:dk2>
        <a:srgbClr val="4D4D4D"/>
      </a:dk2>
      <a:lt2>
        <a:srgbClr val="DDDDDD"/>
      </a:lt2>
      <a:accent1>
        <a:srgbClr val="92D050"/>
      </a:accent1>
      <a:accent2>
        <a:srgbClr val="F7C331"/>
      </a:accent2>
      <a:accent3>
        <a:srgbClr val="47B8C7"/>
      </a:accent3>
      <a:accent4>
        <a:srgbClr val="B074BA"/>
      </a:accent4>
      <a:accent5>
        <a:srgbClr val="F34D47"/>
      </a:accent5>
      <a:accent6>
        <a:srgbClr val="FA8F30"/>
      </a:accent6>
      <a:hlink>
        <a:srgbClr val="47B8C7"/>
      </a:hlink>
      <a:folHlink>
        <a:srgbClr val="969696"/>
      </a:folHlink>
    </a:clrScheme>
    <a:fontScheme name="Consolas-Candara">
      <a:majorFont>
        <a:latin typeface="Consolas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02901026.potx" id="{FD85E87A-7813-4F67-9E59-69B5487A1910}" vid="{BDF94C36-3ACF-4CF1-939F-F4211E6D666F}"/>
    </a:ext>
  </a:extLst>
</a:theme>
</file>

<file path=ppt/theme/theme2.xml><?xml version="1.0" encoding="utf-8"?>
<a:theme xmlns:a="http://schemas.openxmlformats.org/drawingml/2006/main" name="Office Theme">
  <a:themeElements>
    <a:clrScheme name="TechComputer">
      <a:dk1>
        <a:srgbClr val="000000"/>
      </a:dk1>
      <a:lt1>
        <a:sysClr val="window" lastClr="FFFFFF"/>
      </a:lt1>
      <a:dk2>
        <a:srgbClr val="4D4D4D"/>
      </a:dk2>
      <a:lt2>
        <a:srgbClr val="DDDDDD"/>
      </a:lt2>
      <a:accent1>
        <a:srgbClr val="92D050"/>
      </a:accent1>
      <a:accent2>
        <a:srgbClr val="F7C331"/>
      </a:accent2>
      <a:accent3>
        <a:srgbClr val="47B8C7"/>
      </a:accent3>
      <a:accent4>
        <a:srgbClr val="B074BA"/>
      </a:accent4>
      <a:accent5>
        <a:srgbClr val="F34D47"/>
      </a:accent5>
      <a:accent6>
        <a:srgbClr val="FA8F30"/>
      </a:accent6>
      <a:hlink>
        <a:srgbClr val="47B8C7"/>
      </a:hlink>
      <a:folHlink>
        <a:srgbClr val="969696"/>
      </a:folHlink>
    </a:clrScheme>
    <a:fontScheme name="Consolas-Candara">
      <a:majorFont>
        <a:latin typeface="Consolas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TechComputer">
      <a:dk1>
        <a:srgbClr val="000000"/>
      </a:dk1>
      <a:lt1>
        <a:sysClr val="window" lastClr="FFFFFF"/>
      </a:lt1>
      <a:dk2>
        <a:srgbClr val="4D4D4D"/>
      </a:dk2>
      <a:lt2>
        <a:srgbClr val="DDDDDD"/>
      </a:lt2>
      <a:accent1>
        <a:srgbClr val="92D050"/>
      </a:accent1>
      <a:accent2>
        <a:srgbClr val="F7C331"/>
      </a:accent2>
      <a:accent3>
        <a:srgbClr val="47B8C7"/>
      </a:accent3>
      <a:accent4>
        <a:srgbClr val="B074BA"/>
      </a:accent4>
      <a:accent5>
        <a:srgbClr val="F34D47"/>
      </a:accent5>
      <a:accent6>
        <a:srgbClr val="FA8F30"/>
      </a:accent6>
      <a:hlink>
        <a:srgbClr val="47B8C7"/>
      </a:hlink>
      <a:folHlink>
        <a:srgbClr val="969696"/>
      </a:folHlink>
    </a:clrScheme>
    <a:fontScheme name="Consolas-Candara">
      <a:majorFont>
        <a:latin typeface="Consolas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Business technology circuit board design presentation (widescreen)</Template>
  <TotalTime>191</TotalTime>
  <Words>539</Words>
  <Application>Microsoft Office PowerPoint</Application>
  <PresentationFormat>Widescreen</PresentationFormat>
  <Paragraphs>59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Candara</vt:lpstr>
      <vt:lpstr>Consolas</vt:lpstr>
      <vt:lpstr>Tech Computer 16x9</vt:lpstr>
      <vt:lpstr>Burp Suite 101</vt:lpstr>
      <vt:lpstr>$ whoami</vt:lpstr>
      <vt:lpstr>What is Burp Suite?</vt:lpstr>
      <vt:lpstr>Why do we use Burp Suite?</vt:lpstr>
      <vt:lpstr>PowerPoint Presentation</vt:lpstr>
      <vt:lpstr>Running Burp Suite</vt:lpstr>
      <vt:lpstr>Burp Tools</vt:lpstr>
      <vt:lpstr>Burp Tools</vt:lpstr>
      <vt:lpstr>Burp Tools</vt:lpstr>
      <vt:lpstr>Burp Tools</vt:lpstr>
      <vt:lpstr>Burp Tools</vt:lpstr>
      <vt:lpstr>Burp Tools</vt:lpstr>
      <vt:lpstr>Bonus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Burp Suite 101</dc:title>
  <dc:creator>daro</dc:creator>
  <cp:lastModifiedBy>daro</cp:lastModifiedBy>
  <cp:revision>236</cp:revision>
  <dcterms:created xsi:type="dcterms:W3CDTF">2020-04-25T01:47:18Z</dcterms:created>
  <dcterms:modified xsi:type="dcterms:W3CDTF">2020-06-06T12:15:26Z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